
<file path=[Content_Types].xml><?xml version="1.0" encoding="utf-8"?>
<Types xmlns="http://schemas.openxmlformats.org/package/2006/content-types">
  <Default Extension="bmp" ContentType="image/bmp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3" r:id="rId9"/>
    <p:sldId id="260" r:id="rId10"/>
    <p:sldId id="264" r:id="rId11"/>
    <p:sldId id="261" r:id="rId12"/>
    <p:sldId id="262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94" autoAdjust="0"/>
    <p:restoredTop sz="94810" autoAdjust="0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9D8664-49B2-4DBB-A8F2-96F17F238F94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9C61C7-6ED1-40CF-AC4F-1EF916C0D493}">
      <dgm:prSet/>
      <dgm:spPr/>
      <dgm:t>
        <a:bodyPr/>
        <a:lstStyle/>
        <a:p>
          <a:r>
            <a:rPr lang="ru-RU" b="1"/>
            <a:t>Телефон должен был:</a:t>
          </a:r>
          <a:endParaRPr lang="en-US"/>
        </a:p>
      </dgm:t>
    </dgm:pt>
    <dgm:pt modelId="{260A11B9-D531-40F2-B824-A76A3502EB37}" type="parTrans" cxnId="{5D46A149-7060-4758-B715-653A7EA818A9}">
      <dgm:prSet/>
      <dgm:spPr/>
      <dgm:t>
        <a:bodyPr/>
        <a:lstStyle/>
        <a:p>
          <a:endParaRPr lang="en-US"/>
        </a:p>
      </dgm:t>
    </dgm:pt>
    <dgm:pt modelId="{D0B6CD01-3A0E-429B-AFA5-66B062659255}" type="sibTrans" cxnId="{5D46A149-7060-4758-B715-653A7EA818A9}">
      <dgm:prSet/>
      <dgm:spPr/>
      <dgm:t>
        <a:bodyPr/>
        <a:lstStyle/>
        <a:p>
          <a:endParaRPr lang="en-US"/>
        </a:p>
      </dgm:t>
    </dgm:pt>
    <dgm:pt modelId="{F551D1B7-12E1-4291-B69C-95F4FF37FA06}">
      <dgm:prSet/>
      <dgm:spPr/>
      <dgm:t>
        <a:bodyPr/>
        <a:lstStyle/>
        <a:p>
          <a:r>
            <a:rPr lang="ru-RU" dirty="0"/>
            <a:t>⚡ Работать </a:t>
          </a:r>
          <a:r>
            <a:rPr lang="en-US" dirty="0"/>
            <a:t>a</a:t>
          </a:r>
          <a:r>
            <a:rPr lang="ru-RU" dirty="0"/>
            <a:t>неделю без подзарядки.</a:t>
          </a:r>
          <a:endParaRPr lang="en-US" dirty="0"/>
        </a:p>
      </dgm:t>
    </dgm:pt>
    <dgm:pt modelId="{9261B963-9793-420D-9216-57CCD8FE1B5E}" type="parTrans" cxnId="{11871E6F-87E7-4524-8060-94C8092FEAF8}">
      <dgm:prSet/>
      <dgm:spPr/>
      <dgm:t>
        <a:bodyPr/>
        <a:lstStyle/>
        <a:p>
          <a:endParaRPr lang="en-US"/>
        </a:p>
      </dgm:t>
    </dgm:pt>
    <dgm:pt modelId="{95AC5A21-7D5F-49D3-AA67-943B7C2FE55A}" type="sibTrans" cxnId="{11871E6F-87E7-4524-8060-94C8092FEAF8}">
      <dgm:prSet/>
      <dgm:spPr/>
      <dgm:t>
        <a:bodyPr/>
        <a:lstStyle/>
        <a:p>
          <a:endParaRPr lang="en-US"/>
        </a:p>
      </dgm:t>
    </dgm:pt>
    <dgm:pt modelId="{920C82E4-72BD-4AA8-828B-E6292EFBE489}">
      <dgm:prSet/>
      <dgm:spPr/>
      <dgm:t>
        <a:bodyPr/>
        <a:lstStyle/>
        <a:p>
          <a:r>
            <a:rPr lang="ru-RU" dirty="0"/>
            <a:t>🛡️ Быть стабильнее стационарного телефона (зависание недопустимо).</a:t>
          </a:r>
          <a:endParaRPr lang="en-US" dirty="0"/>
        </a:p>
      </dgm:t>
    </dgm:pt>
    <dgm:pt modelId="{42376E80-00F6-4E58-830C-7CC50F0392F5}" type="parTrans" cxnId="{7BCF0C78-3F27-40D7-9EBA-31B0BF6DDA75}">
      <dgm:prSet/>
      <dgm:spPr/>
      <dgm:t>
        <a:bodyPr/>
        <a:lstStyle/>
        <a:p>
          <a:endParaRPr lang="en-US"/>
        </a:p>
      </dgm:t>
    </dgm:pt>
    <dgm:pt modelId="{EC47F7CE-4DC4-4CDA-B5B1-495371C11FE4}" type="sibTrans" cxnId="{7BCF0C78-3F27-40D7-9EBA-31B0BF6DDA75}">
      <dgm:prSet/>
      <dgm:spPr/>
      <dgm:t>
        <a:bodyPr/>
        <a:lstStyle/>
        <a:p>
          <a:endParaRPr lang="en-US"/>
        </a:p>
      </dgm:t>
    </dgm:pt>
    <dgm:pt modelId="{427FD29F-BB0E-4749-9000-E35482E94F8D}">
      <dgm:prSet/>
      <dgm:spPr/>
      <dgm:t>
        <a:bodyPr/>
        <a:lstStyle/>
        <a:p>
          <a:r>
            <a:rPr lang="ru-RU" dirty="0"/>
            <a:t>🧠 Эффективно работать на слабом «железе» (мало ОЗУ, медленные процессоры).</a:t>
          </a:r>
          <a:endParaRPr lang="en-US" dirty="0"/>
        </a:p>
      </dgm:t>
    </dgm:pt>
    <dgm:pt modelId="{C43329EA-441C-49D1-A80C-2743641B82AF}" type="parTrans" cxnId="{1E66FBEB-4646-4D98-9C24-A94EFAFB3444}">
      <dgm:prSet/>
      <dgm:spPr/>
      <dgm:t>
        <a:bodyPr/>
        <a:lstStyle/>
        <a:p>
          <a:endParaRPr lang="en-US"/>
        </a:p>
      </dgm:t>
    </dgm:pt>
    <dgm:pt modelId="{BAC25163-4A52-4F09-BA15-C76EF11562C5}" type="sibTrans" cxnId="{1E66FBEB-4646-4D98-9C24-A94EFAFB3444}">
      <dgm:prSet/>
      <dgm:spPr/>
      <dgm:t>
        <a:bodyPr/>
        <a:lstStyle/>
        <a:p>
          <a:endParaRPr lang="en-US"/>
        </a:p>
      </dgm:t>
    </dgm:pt>
    <dgm:pt modelId="{224344DB-9BF4-304C-AB2F-2418492253F0}" type="pres">
      <dgm:prSet presAssocID="{269D8664-49B2-4DBB-A8F2-96F17F238F9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DAEE60C-717C-294A-96A9-303BFD46E78B}" type="pres">
      <dgm:prSet presAssocID="{049C61C7-6ED1-40CF-AC4F-1EF916C0D493}" presName="hierRoot1" presStyleCnt="0"/>
      <dgm:spPr/>
    </dgm:pt>
    <dgm:pt modelId="{EC519AB9-750D-A44B-BC28-1F2E6568C0DF}" type="pres">
      <dgm:prSet presAssocID="{049C61C7-6ED1-40CF-AC4F-1EF916C0D493}" presName="composite" presStyleCnt="0"/>
      <dgm:spPr/>
    </dgm:pt>
    <dgm:pt modelId="{C119280E-4F37-B74A-BAA1-35615A67B217}" type="pres">
      <dgm:prSet presAssocID="{049C61C7-6ED1-40CF-AC4F-1EF916C0D493}" presName="background" presStyleLbl="node0" presStyleIdx="0" presStyleCnt="4"/>
      <dgm:spPr/>
    </dgm:pt>
    <dgm:pt modelId="{D5F9AFF8-0B79-144D-94D7-B0E215C152D7}" type="pres">
      <dgm:prSet presAssocID="{049C61C7-6ED1-40CF-AC4F-1EF916C0D493}" presName="text" presStyleLbl="fgAcc0" presStyleIdx="0" presStyleCnt="4">
        <dgm:presLayoutVars>
          <dgm:chPref val="3"/>
        </dgm:presLayoutVars>
      </dgm:prSet>
      <dgm:spPr/>
    </dgm:pt>
    <dgm:pt modelId="{EEB8A210-FCAE-7C43-9294-1982A2A0B17D}" type="pres">
      <dgm:prSet presAssocID="{049C61C7-6ED1-40CF-AC4F-1EF916C0D493}" presName="hierChild2" presStyleCnt="0"/>
      <dgm:spPr/>
    </dgm:pt>
    <dgm:pt modelId="{956171F3-E43B-9B45-ACA4-7AF00AA9271E}" type="pres">
      <dgm:prSet presAssocID="{F551D1B7-12E1-4291-B69C-95F4FF37FA06}" presName="hierRoot1" presStyleCnt="0"/>
      <dgm:spPr/>
    </dgm:pt>
    <dgm:pt modelId="{A5AB20B2-9321-0B4B-BDC8-7DE834218FBB}" type="pres">
      <dgm:prSet presAssocID="{F551D1B7-12E1-4291-B69C-95F4FF37FA06}" presName="composite" presStyleCnt="0"/>
      <dgm:spPr/>
    </dgm:pt>
    <dgm:pt modelId="{709B9B1A-9328-C344-AF88-5DA054DF4007}" type="pres">
      <dgm:prSet presAssocID="{F551D1B7-12E1-4291-B69C-95F4FF37FA06}" presName="background" presStyleLbl="node0" presStyleIdx="1" presStyleCnt="4"/>
      <dgm:spPr/>
    </dgm:pt>
    <dgm:pt modelId="{F6C5BD07-D721-C749-B520-FFB8DF1F9E6C}" type="pres">
      <dgm:prSet presAssocID="{F551D1B7-12E1-4291-B69C-95F4FF37FA06}" presName="text" presStyleLbl="fgAcc0" presStyleIdx="1" presStyleCnt="4">
        <dgm:presLayoutVars>
          <dgm:chPref val="3"/>
        </dgm:presLayoutVars>
      </dgm:prSet>
      <dgm:spPr/>
    </dgm:pt>
    <dgm:pt modelId="{B7A20CB1-829F-0849-8EE3-326BFFB243D8}" type="pres">
      <dgm:prSet presAssocID="{F551D1B7-12E1-4291-B69C-95F4FF37FA06}" presName="hierChild2" presStyleCnt="0"/>
      <dgm:spPr/>
    </dgm:pt>
    <dgm:pt modelId="{61859F6D-349D-124C-A8E4-71ED5A574561}" type="pres">
      <dgm:prSet presAssocID="{920C82E4-72BD-4AA8-828B-E6292EFBE489}" presName="hierRoot1" presStyleCnt="0"/>
      <dgm:spPr/>
    </dgm:pt>
    <dgm:pt modelId="{C7146388-93EA-F243-A100-AE7A5AC7CB14}" type="pres">
      <dgm:prSet presAssocID="{920C82E4-72BD-4AA8-828B-E6292EFBE489}" presName="composite" presStyleCnt="0"/>
      <dgm:spPr/>
    </dgm:pt>
    <dgm:pt modelId="{687734B7-AA43-3543-9D11-551056C5C0CF}" type="pres">
      <dgm:prSet presAssocID="{920C82E4-72BD-4AA8-828B-E6292EFBE489}" presName="background" presStyleLbl="node0" presStyleIdx="2" presStyleCnt="4"/>
      <dgm:spPr/>
    </dgm:pt>
    <dgm:pt modelId="{21997A0C-5B43-C14A-9A46-D1E22E0A32BD}" type="pres">
      <dgm:prSet presAssocID="{920C82E4-72BD-4AA8-828B-E6292EFBE489}" presName="text" presStyleLbl="fgAcc0" presStyleIdx="2" presStyleCnt="4">
        <dgm:presLayoutVars>
          <dgm:chPref val="3"/>
        </dgm:presLayoutVars>
      </dgm:prSet>
      <dgm:spPr/>
    </dgm:pt>
    <dgm:pt modelId="{50851D12-0502-D04A-AE2A-0525518EC04F}" type="pres">
      <dgm:prSet presAssocID="{920C82E4-72BD-4AA8-828B-E6292EFBE489}" presName="hierChild2" presStyleCnt="0"/>
      <dgm:spPr/>
    </dgm:pt>
    <dgm:pt modelId="{EEAE28F5-E36D-FF42-90E9-4C1971CEA95C}" type="pres">
      <dgm:prSet presAssocID="{427FD29F-BB0E-4749-9000-E35482E94F8D}" presName="hierRoot1" presStyleCnt="0"/>
      <dgm:spPr/>
    </dgm:pt>
    <dgm:pt modelId="{8A30C330-AF45-C94B-AA25-6EF66F551BF3}" type="pres">
      <dgm:prSet presAssocID="{427FD29F-BB0E-4749-9000-E35482E94F8D}" presName="composite" presStyleCnt="0"/>
      <dgm:spPr/>
    </dgm:pt>
    <dgm:pt modelId="{37E6A883-14D6-8243-9FB9-72565F70F621}" type="pres">
      <dgm:prSet presAssocID="{427FD29F-BB0E-4749-9000-E35482E94F8D}" presName="background" presStyleLbl="node0" presStyleIdx="3" presStyleCnt="4"/>
      <dgm:spPr/>
    </dgm:pt>
    <dgm:pt modelId="{B0D1D8B9-C280-4A43-82CA-BC5AD187F609}" type="pres">
      <dgm:prSet presAssocID="{427FD29F-BB0E-4749-9000-E35482E94F8D}" presName="text" presStyleLbl="fgAcc0" presStyleIdx="3" presStyleCnt="4">
        <dgm:presLayoutVars>
          <dgm:chPref val="3"/>
        </dgm:presLayoutVars>
      </dgm:prSet>
      <dgm:spPr/>
    </dgm:pt>
    <dgm:pt modelId="{96AB5DD9-14EB-FA49-91C9-59316A693B2A}" type="pres">
      <dgm:prSet presAssocID="{427FD29F-BB0E-4749-9000-E35482E94F8D}" presName="hierChild2" presStyleCnt="0"/>
      <dgm:spPr/>
    </dgm:pt>
  </dgm:ptLst>
  <dgm:cxnLst>
    <dgm:cxn modelId="{5D46A149-7060-4758-B715-653A7EA818A9}" srcId="{269D8664-49B2-4DBB-A8F2-96F17F238F94}" destId="{049C61C7-6ED1-40CF-AC4F-1EF916C0D493}" srcOrd="0" destOrd="0" parTransId="{260A11B9-D531-40F2-B824-A76A3502EB37}" sibTransId="{D0B6CD01-3A0E-429B-AFA5-66B062659255}"/>
    <dgm:cxn modelId="{11871E6F-87E7-4524-8060-94C8092FEAF8}" srcId="{269D8664-49B2-4DBB-A8F2-96F17F238F94}" destId="{F551D1B7-12E1-4291-B69C-95F4FF37FA06}" srcOrd="1" destOrd="0" parTransId="{9261B963-9793-420D-9216-57CCD8FE1B5E}" sibTransId="{95AC5A21-7D5F-49D3-AA67-943B7C2FE55A}"/>
    <dgm:cxn modelId="{7BCF0C78-3F27-40D7-9EBA-31B0BF6DDA75}" srcId="{269D8664-49B2-4DBB-A8F2-96F17F238F94}" destId="{920C82E4-72BD-4AA8-828B-E6292EFBE489}" srcOrd="2" destOrd="0" parTransId="{42376E80-00F6-4E58-830C-7CC50F0392F5}" sibTransId="{EC47F7CE-4DC4-4CDA-B5B1-495371C11FE4}"/>
    <dgm:cxn modelId="{33451B7F-ABC7-374A-8E49-52085BDA65FF}" type="presOf" srcId="{269D8664-49B2-4DBB-A8F2-96F17F238F94}" destId="{224344DB-9BF4-304C-AB2F-2418492253F0}" srcOrd="0" destOrd="0" presId="urn:microsoft.com/office/officeart/2005/8/layout/hierarchy1"/>
    <dgm:cxn modelId="{CE315693-FCA8-6544-86C2-6592F1FD30D6}" type="presOf" srcId="{F551D1B7-12E1-4291-B69C-95F4FF37FA06}" destId="{F6C5BD07-D721-C749-B520-FFB8DF1F9E6C}" srcOrd="0" destOrd="0" presId="urn:microsoft.com/office/officeart/2005/8/layout/hierarchy1"/>
    <dgm:cxn modelId="{4CCB18C6-DEF0-FA40-97B0-EF4944B0B525}" type="presOf" srcId="{920C82E4-72BD-4AA8-828B-E6292EFBE489}" destId="{21997A0C-5B43-C14A-9A46-D1E22E0A32BD}" srcOrd="0" destOrd="0" presId="urn:microsoft.com/office/officeart/2005/8/layout/hierarchy1"/>
    <dgm:cxn modelId="{9974B7C9-D704-7046-95A0-5B9DA07732DC}" type="presOf" srcId="{049C61C7-6ED1-40CF-AC4F-1EF916C0D493}" destId="{D5F9AFF8-0B79-144D-94D7-B0E215C152D7}" srcOrd="0" destOrd="0" presId="urn:microsoft.com/office/officeart/2005/8/layout/hierarchy1"/>
    <dgm:cxn modelId="{1E66FBEB-4646-4D98-9C24-A94EFAFB3444}" srcId="{269D8664-49B2-4DBB-A8F2-96F17F238F94}" destId="{427FD29F-BB0E-4749-9000-E35482E94F8D}" srcOrd="3" destOrd="0" parTransId="{C43329EA-441C-49D1-A80C-2743641B82AF}" sibTransId="{BAC25163-4A52-4F09-BA15-C76EF11562C5}"/>
    <dgm:cxn modelId="{7C51C3F1-082F-6A46-8FEA-AC5DC93A496C}" type="presOf" srcId="{427FD29F-BB0E-4749-9000-E35482E94F8D}" destId="{B0D1D8B9-C280-4A43-82CA-BC5AD187F609}" srcOrd="0" destOrd="0" presId="urn:microsoft.com/office/officeart/2005/8/layout/hierarchy1"/>
    <dgm:cxn modelId="{73D9E585-FC12-8E4D-BE7F-92265E48DE89}" type="presParOf" srcId="{224344DB-9BF4-304C-AB2F-2418492253F0}" destId="{BDAEE60C-717C-294A-96A9-303BFD46E78B}" srcOrd="0" destOrd="0" presId="urn:microsoft.com/office/officeart/2005/8/layout/hierarchy1"/>
    <dgm:cxn modelId="{4639FC49-1160-E244-A7A5-FD74D44D3F89}" type="presParOf" srcId="{BDAEE60C-717C-294A-96A9-303BFD46E78B}" destId="{EC519AB9-750D-A44B-BC28-1F2E6568C0DF}" srcOrd="0" destOrd="0" presId="urn:microsoft.com/office/officeart/2005/8/layout/hierarchy1"/>
    <dgm:cxn modelId="{B14A8451-CD09-B640-B6DC-ADCFADA31F04}" type="presParOf" srcId="{EC519AB9-750D-A44B-BC28-1F2E6568C0DF}" destId="{C119280E-4F37-B74A-BAA1-35615A67B217}" srcOrd="0" destOrd="0" presId="urn:microsoft.com/office/officeart/2005/8/layout/hierarchy1"/>
    <dgm:cxn modelId="{BDF888E2-DCD6-C849-86D0-FE66092E1820}" type="presParOf" srcId="{EC519AB9-750D-A44B-BC28-1F2E6568C0DF}" destId="{D5F9AFF8-0B79-144D-94D7-B0E215C152D7}" srcOrd="1" destOrd="0" presId="urn:microsoft.com/office/officeart/2005/8/layout/hierarchy1"/>
    <dgm:cxn modelId="{1AF331B9-893A-7A4A-85F7-7A7B9526B9F2}" type="presParOf" srcId="{BDAEE60C-717C-294A-96A9-303BFD46E78B}" destId="{EEB8A210-FCAE-7C43-9294-1982A2A0B17D}" srcOrd="1" destOrd="0" presId="urn:microsoft.com/office/officeart/2005/8/layout/hierarchy1"/>
    <dgm:cxn modelId="{DDF9EC18-5F39-A44C-9A94-3B4E1DED802D}" type="presParOf" srcId="{224344DB-9BF4-304C-AB2F-2418492253F0}" destId="{956171F3-E43B-9B45-ACA4-7AF00AA9271E}" srcOrd="1" destOrd="0" presId="urn:microsoft.com/office/officeart/2005/8/layout/hierarchy1"/>
    <dgm:cxn modelId="{2526E061-600D-A243-8FBB-1062F0EE14E9}" type="presParOf" srcId="{956171F3-E43B-9B45-ACA4-7AF00AA9271E}" destId="{A5AB20B2-9321-0B4B-BDC8-7DE834218FBB}" srcOrd="0" destOrd="0" presId="urn:microsoft.com/office/officeart/2005/8/layout/hierarchy1"/>
    <dgm:cxn modelId="{87F89A95-A9AF-D541-B418-BE9E00E08E25}" type="presParOf" srcId="{A5AB20B2-9321-0B4B-BDC8-7DE834218FBB}" destId="{709B9B1A-9328-C344-AF88-5DA054DF4007}" srcOrd="0" destOrd="0" presId="urn:microsoft.com/office/officeart/2005/8/layout/hierarchy1"/>
    <dgm:cxn modelId="{C77A65C2-F299-C347-A0A9-448C170059AF}" type="presParOf" srcId="{A5AB20B2-9321-0B4B-BDC8-7DE834218FBB}" destId="{F6C5BD07-D721-C749-B520-FFB8DF1F9E6C}" srcOrd="1" destOrd="0" presId="urn:microsoft.com/office/officeart/2005/8/layout/hierarchy1"/>
    <dgm:cxn modelId="{5A0A5E43-A278-0F4C-88B3-64E1EB5A313F}" type="presParOf" srcId="{956171F3-E43B-9B45-ACA4-7AF00AA9271E}" destId="{B7A20CB1-829F-0849-8EE3-326BFFB243D8}" srcOrd="1" destOrd="0" presId="urn:microsoft.com/office/officeart/2005/8/layout/hierarchy1"/>
    <dgm:cxn modelId="{79CA24F9-4B38-D344-8A53-8EBC80D43D6D}" type="presParOf" srcId="{224344DB-9BF4-304C-AB2F-2418492253F0}" destId="{61859F6D-349D-124C-A8E4-71ED5A574561}" srcOrd="2" destOrd="0" presId="urn:microsoft.com/office/officeart/2005/8/layout/hierarchy1"/>
    <dgm:cxn modelId="{77557301-D1B1-F849-B671-37C42294C40A}" type="presParOf" srcId="{61859F6D-349D-124C-A8E4-71ED5A574561}" destId="{C7146388-93EA-F243-A100-AE7A5AC7CB14}" srcOrd="0" destOrd="0" presId="urn:microsoft.com/office/officeart/2005/8/layout/hierarchy1"/>
    <dgm:cxn modelId="{FC9E074F-38FC-C74A-83F1-70CE90C275FD}" type="presParOf" srcId="{C7146388-93EA-F243-A100-AE7A5AC7CB14}" destId="{687734B7-AA43-3543-9D11-551056C5C0CF}" srcOrd="0" destOrd="0" presId="urn:microsoft.com/office/officeart/2005/8/layout/hierarchy1"/>
    <dgm:cxn modelId="{D1982970-FF81-444D-A176-1CCA771A5AFE}" type="presParOf" srcId="{C7146388-93EA-F243-A100-AE7A5AC7CB14}" destId="{21997A0C-5B43-C14A-9A46-D1E22E0A32BD}" srcOrd="1" destOrd="0" presId="urn:microsoft.com/office/officeart/2005/8/layout/hierarchy1"/>
    <dgm:cxn modelId="{D0601CCE-1D95-B844-920F-DCF8BE1E7441}" type="presParOf" srcId="{61859F6D-349D-124C-A8E4-71ED5A574561}" destId="{50851D12-0502-D04A-AE2A-0525518EC04F}" srcOrd="1" destOrd="0" presId="urn:microsoft.com/office/officeart/2005/8/layout/hierarchy1"/>
    <dgm:cxn modelId="{F29A9826-C2E4-6E4F-9227-B0EED2E966D7}" type="presParOf" srcId="{224344DB-9BF4-304C-AB2F-2418492253F0}" destId="{EEAE28F5-E36D-FF42-90E9-4C1971CEA95C}" srcOrd="3" destOrd="0" presId="urn:microsoft.com/office/officeart/2005/8/layout/hierarchy1"/>
    <dgm:cxn modelId="{18929E12-0286-0946-BD6E-0CDB7315F760}" type="presParOf" srcId="{EEAE28F5-E36D-FF42-90E9-4C1971CEA95C}" destId="{8A30C330-AF45-C94B-AA25-6EF66F551BF3}" srcOrd="0" destOrd="0" presId="urn:microsoft.com/office/officeart/2005/8/layout/hierarchy1"/>
    <dgm:cxn modelId="{F8B1E9D9-7244-D846-A9EC-D5072C2B5302}" type="presParOf" srcId="{8A30C330-AF45-C94B-AA25-6EF66F551BF3}" destId="{37E6A883-14D6-8243-9FB9-72565F70F621}" srcOrd="0" destOrd="0" presId="urn:microsoft.com/office/officeart/2005/8/layout/hierarchy1"/>
    <dgm:cxn modelId="{05E1806B-3315-0042-8F04-A22B7FF0D5CF}" type="presParOf" srcId="{8A30C330-AF45-C94B-AA25-6EF66F551BF3}" destId="{B0D1D8B9-C280-4A43-82CA-BC5AD187F609}" srcOrd="1" destOrd="0" presId="urn:microsoft.com/office/officeart/2005/8/layout/hierarchy1"/>
    <dgm:cxn modelId="{3FD2D351-596A-5D4E-8A05-DC6685576DA2}" type="presParOf" srcId="{EEAE28F5-E36D-FF42-90E9-4C1971CEA95C}" destId="{96AB5DD9-14EB-FA49-91C9-59316A693B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9280E-4F37-B74A-BAA1-35615A67B217}">
      <dsp:nvSpPr>
        <dsp:cNvPr id="0" name=""/>
        <dsp:cNvSpPr/>
      </dsp:nvSpPr>
      <dsp:spPr>
        <a:xfrm>
          <a:off x="2946" y="108373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F9AFF8-0B79-144D-94D7-B0E215C152D7}">
      <dsp:nvSpPr>
        <dsp:cNvPr id="0" name=""/>
        <dsp:cNvSpPr/>
      </dsp:nvSpPr>
      <dsp:spPr>
        <a:xfrm>
          <a:off x="236726" y="1305827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/>
            <a:t>Телефон должен был:</a:t>
          </a:r>
          <a:endParaRPr lang="en-US" sz="1400" kern="1200"/>
        </a:p>
      </dsp:txBody>
      <dsp:txXfrm>
        <a:off x="275858" y="1344959"/>
        <a:ext cx="2025748" cy="1257784"/>
      </dsp:txXfrm>
    </dsp:sp>
    <dsp:sp modelId="{709B9B1A-9328-C344-AF88-5DA054DF4007}">
      <dsp:nvSpPr>
        <dsp:cNvPr id="0" name=""/>
        <dsp:cNvSpPr/>
      </dsp:nvSpPr>
      <dsp:spPr>
        <a:xfrm>
          <a:off x="2574518" y="108373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6C5BD07-D721-C749-B520-FFB8DF1F9E6C}">
      <dsp:nvSpPr>
        <dsp:cNvPr id="0" name=""/>
        <dsp:cNvSpPr/>
      </dsp:nvSpPr>
      <dsp:spPr>
        <a:xfrm>
          <a:off x="2808297" y="1305827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⚡ Работать </a:t>
          </a:r>
          <a:r>
            <a:rPr lang="en-US" sz="1400" kern="1200" dirty="0"/>
            <a:t>a</a:t>
          </a:r>
          <a:r>
            <a:rPr lang="ru-RU" sz="1400" kern="1200" dirty="0"/>
            <a:t>неделю без подзарядки.</a:t>
          </a:r>
          <a:endParaRPr lang="en-US" sz="1400" kern="1200" dirty="0"/>
        </a:p>
      </dsp:txBody>
      <dsp:txXfrm>
        <a:off x="2847429" y="1344959"/>
        <a:ext cx="2025748" cy="1257784"/>
      </dsp:txXfrm>
    </dsp:sp>
    <dsp:sp modelId="{687734B7-AA43-3543-9D11-551056C5C0CF}">
      <dsp:nvSpPr>
        <dsp:cNvPr id="0" name=""/>
        <dsp:cNvSpPr/>
      </dsp:nvSpPr>
      <dsp:spPr>
        <a:xfrm>
          <a:off x="5146089" y="108373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997A0C-5B43-C14A-9A46-D1E22E0A32BD}">
      <dsp:nvSpPr>
        <dsp:cNvPr id="0" name=""/>
        <dsp:cNvSpPr/>
      </dsp:nvSpPr>
      <dsp:spPr>
        <a:xfrm>
          <a:off x="5379868" y="1305827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🛡️ Быть стабильнее стационарного телефона (зависание недопустимо).</a:t>
          </a:r>
          <a:endParaRPr lang="en-US" sz="1400" kern="1200" dirty="0"/>
        </a:p>
      </dsp:txBody>
      <dsp:txXfrm>
        <a:off x="5419000" y="1344959"/>
        <a:ext cx="2025748" cy="1257784"/>
      </dsp:txXfrm>
    </dsp:sp>
    <dsp:sp modelId="{37E6A883-14D6-8243-9FB9-72565F70F621}">
      <dsp:nvSpPr>
        <dsp:cNvPr id="0" name=""/>
        <dsp:cNvSpPr/>
      </dsp:nvSpPr>
      <dsp:spPr>
        <a:xfrm>
          <a:off x="7717661" y="108373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0D1D8B9-C280-4A43-82CA-BC5AD187F609}">
      <dsp:nvSpPr>
        <dsp:cNvPr id="0" name=""/>
        <dsp:cNvSpPr/>
      </dsp:nvSpPr>
      <dsp:spPr>
        <a:xfrm>
          <a:off x="7951440" y="1305827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🧠 Эффективно работать на слабом «железе» (мало ОЗУ, медленные процессоры).</a:t>
          </a:r>
          <a:endParaRPr lang="en-US" sz="1400" kern="1200" dirty="0"/>
        </a:p>
      </dsp:txBody>
      <dsp:txXfrm>
        <a:off x="7990572" y="1344959"/>
        <a:ext cx="2025748" cy="1257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66C66A4-3E9A-4D48-AE19-59B11A0216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055A39-7BD8-4CB2-9E4E-D5F38D84B2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11ECE-97D8-44F9-9C7A-DB1AC630DFAC}" type="datetime1">
              <a:rPr lang="ru-RU" smtClean="0"/>
              <a:t>01.10.2026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AEB401-D353-45E5-8280-0606CCCBED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07E761-7F7A-4D2C-8944-3B49A5CD8D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F53B4-0D05-421F-85D3-F311BA4EB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8588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EBA56-40D1-4E05-9DDD-CA1A1A679143}" type="datetime1">
              <a:rPr lang="ru-RU" smtClean="0"/>
              <a:pPr/>
              <a:t>01.10.2026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41A3B-8407-4A4E-B5A6-988BD64132E7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889824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41A3B-8407-4A4E-B5A6-988BD64132E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171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 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0" name="Прямоугольник 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Прямоугольник 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 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4" name="Группа 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Прямая соединительная линия 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 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20" name="Дата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C25A7E61-1BBB-461A-A3DA-7941C5BB961C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 sz="1800"/>
            </a:lvl1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F4C9AFD-A4DD-4E73-ADEE-77437DA12583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 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Прямоугольник 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Прямоугольник 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30" name="Прямоугольник 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31" name="Группа 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Прямая соединительная линия 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583C615E-E95A-475E-BF17-8B9F578A04B6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6B86C46-81F7-4E08-B84F-71E86E76A374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 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 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AE373B3-AD72-488C-8D65-CC2A0D855714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8" name="Нижний колонтитул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0D816314-F397-49E9-A8ED-29B429DE8B7F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4" name="Нижний колонтитул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BAA3BCF6-1B5D-48B1-BC5F-09A4104978DD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3" name="Нижний колонтитул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 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Прямоугольник 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Прямоугольник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9E48EAD-D381-4DD0-8557-975059B0D05D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 rtlCol="0"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1" name="Прямоугольник 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 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 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rtlCol="0"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изображение</a:t>
            </a:r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16365492-6A5A-4444-B9B9-CCA334E4126D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2AF586D1-CCD2-4008-B9DD-08178F9B3587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147CB108-4600-494C-A02C-F32CCD9AC1AE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Прямоугольник 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E93472D9-7988-48D2-AF06-25BECD8DE9FF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4375FAEF-4B90-4F87-A88C-3820FC6D9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0EC3D-482A-4E73-B198-E8341A0D0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0024" y="1442916"/>
            <a:ext cx="3238829" cy="3252231"/>
          </a:xfrm>
        </p:spPr>
        <p:txBody>
          <a:bodyPr rtlCol="0">
            <a:normAutofit/>
          </a:bodyPr>
          <a:lstStyle/>
          <a:p>
            <a:r>
              <a:rPr lang="ru-RU" sz="4800">
                <a:solidFill>
                  <a:srgbClr val="FFFFFF"/>
                </a:solidFill>
                <a:effectLst/>
              </a:rPr>
              <a:t>Symbian </a:t>
            </a:r>
            <a:endParaRPr lang="ru-RU" sz="4800">
              <a:solidFill>
                <a:srgbClr val="FFFFFF"/>
              </a:solidFill>
            </a:endParaRP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2048EE7C-B77F-4E59-88A7-DD66337B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0024" y="4708186"/>
            <a:ext cx="3238829" cy="149681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ru-RU" sz="1400">
                <a:solidFill>
                  <a:srgbClr val="FFFFFF"/>
                </a:solidFill>
              </a:rPr>
              <a:t>Кононова Ника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4D1BC95-A991-4DD9-A1A4-AD07963B4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AABD9A0-BBB1-4904-AEF7-5271AA2FF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909241" cy="5571072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11491E1-F714-45DF-8FB3-1949FFB13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227" y="805446"/>
            <a:ext cx="6570161" cy="5244497"/>
          </a:xfrm>
          <a:prstGeom prst="rect">
            <a:avLst/>
          </a:prstGeom>
          <a:solidFill>
            <a:schemeClr val="tx1"/>
          </a:solidFill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90A2D82-98AD-4736-95EB-C800712CE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837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3846EB6-EEDE-4217-9577-802755887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E7A9610-6EAC-44C1-9CC9-AC733EC68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377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0E19303-DA3E-4430-9090-CAC728E0D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8EC517-35A2-09B6-0B5D-82A86F5249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4968"/>
          <a:stretch>
            <a:fillRect/>
          </a:stretch>
        </p:blipFill>
        <p:spPr bwMode="auto">
          <a:xfrm>
            <a:off x="1295860" y="2141503"/>
            <a:ext cx="5615366" cy="3000038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AAFC52-FE2B-E67F-466A-0BD0FB994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137" y="7550593"/>
            <a:ext cx="4188221" cy="324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69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B648E-91A7-A04B-8568-64F8AC755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384" y="642594"/>
            <a:ext cx="4810815" cy="1371600"/>
          </a:xfrm>
        </p:spPr>
        <p:txBody>
          <a:bodyPr>
            <a:normAutofit/>
          </a:bodyPr>
          <a:lstStyle/>
          <a:p>
            <a:r>
              <a:rPr lang="ru-RU" sz="3000" b="1"/>
              <a:t>EPOC: основа Symbian</a:t>
            </a:r>
            <a:br>
              <a:rPr lang="ru-RU" sz="3000"/>
            </a:br>
            <a:endParaRPr lang="ru-RU" sz="3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C3E364-5A48-4567-B65D-0880753EE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80BFB4-DA7E-4E98-BE01-534889F41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2175" y="1005675"/>
            <a:ext cx="4800601" cy="4870174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842537-8E52-DFAE-2D66-51CE758F0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64" y="1807753"/>
            <a:ext cx="4188221" cy="3242493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1D96BCC-9D5E-8F10-B457-FF60958AF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4384" y="2103120"/>
            <a:ext cx="4810816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Компания: PSION (Великобритания)</a:t>
            </a:r>
          </a:p>
          <a:p>
            <a:pPr marL="0" indent="0">
              <a:buNone/>
            </a:pPr>
            <a:r>
              <a:rPr lang="ru-RU" dirty="0"/>
              <a:t>1980–1990-е, для своих карманных компьютеров</a:t>
            </a:r>
          </a:p>
          <a:p>
            <a:pPr marL="0" indent="0">
              <a:buNone/>
            </a:pPr>
            <a:r>
              <a:rPr lang="ru-RU" b="1" dirty="0"/>
              <a:t>Система EPOC: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Быстрая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Стабильная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Экономная (для маленьких батареек)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1235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FB29C5-9E32-4F49-A689-B10EE31E5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1150" y="457200"/>
            <a:ext cx="8533646" cy="5943603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2467" y="621793"/>
            <a:ext cx="8198780" cy="5614416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29EE3-7D48-2F15-0926-E1F647507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204" y="821199"/>
            <a:ext cx="7417925" cy="1517035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Symbian Ltd</a:t>
            </a:r>
            <a:b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26B001-395C-BC6E-1E7F-469AFEFAD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616" y="2626840"/>
            <a:ext cx="7245103" cy="3131777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ru-RU" sz="1500" b="1">
                <a:solidFill>
                  <a:schemeClr val="tx1">
                    <a:lumMod val="75000"/>
                    <a:lumOff val="25000"/>
                  </a:schemeClr>
                </a:solidFill>
              </a:rPr>
              <a:t>Проблема конца 90-х:</a:t>
            </a:r>
            <a:r>
              <a:rPr lang="ru-RU" sz="1500">
                <a:solidFill>
                  <a:schemeClr val="tx1">
                    <a:lumMod val="75000"/>
                    <a:lumOff val="25000"/>
                  </a:schemeClr>
                </a:solidFill>
              </a:rPr>
              <a:t> у каждого производителя (Nokia, Ericsson, Motorola) — своё ПО. Разработчикам приходилось писать программы под каждую модель отдельно → невыгодно.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ru-RU" sz="1500" b="1">
                <a:solidFill>
                  <a:schemeClr val="tx1">
                    <a:lumMod val="75000"/>
                    <a:lumOff val="25000"/>
                  </a:schemeClr>
                </a:solidFill>
              </a:rPr>
              <a:t>Решение</a:t>
            </a:r>
            <a:r>
              <a:rPr lang="en-US" sz="1500" b="1">
                <a:solidFill>
                  <a:schemeClr val="tx1">
                    <a:lumMod val="75000"/>
                    <a:lumOff val="25000"/>
                  </a:schemeClr>
                </a:solidFill>
              </a:rPr>
              <a:t>-1998</a:t>
            </a: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ru-RU" sz="1500">
                <a:solidFill>
                  <a:schemeClr val="tx1">
                    <a:lumMod val="75000"/>
                    <a:lumOff val="25000"/>
                  </a:schemeClr>
                </a:solidFill>
              </a:rPr>
              <a:t>создание</a:t>
            </a: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 Symbian Ltd. (Nokia, Ericsson, Motorola + Psion).</a:t>
            </a:r>
            <a:endParaRPr lang="ru-RU" sz="15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ru-RU" sz="1500" b="1">
                <a:solidFill>
                  <a:schemeClr val="tx1">
                    <a:lumMod val="75000"/>
                    <a:lumOff val="25000"/>
                  </a:schemeClr>
                </a:solidFill>
              </a:rPr>
              <a:t>Основа</a:t>
            </a:r>
            <a:r>
              <a:rPr lang="ru-RU" sz="1500">
                <a:solidFill>
                  <a:schemeClr val="tx1">
                    <a:lumMod val="75000"/>
                    <a:lumOff val="25000"/>
                  </a:schemeClr>
                </a:solidFill>
              </a:rPr>
              <a:t>: проверенная временем OS EPOC32 от британской компании Psion.</a:t>
            </a:r>
          </a:p>
          <a:p>
            <a:pPr lvl="0">
              <a:lnSpc>
                <a:spcPct val="90000"/>
              </a:lnSpc>
            </a:pPr>
            <a:r>
              <a:rPr lang="ru-RU" sz="1500">
                <a:solidFill>
                  <a:schemeClr val="tx1">
                    <a:lumMod val="75000"/>
                    <a:lumOff val="25000"/>
                  </a:schemeClr>
                </a:solidFill>
              </a:rPr>
              <a:t>Быстрая.</a:t>
            </a:r>
          </a:p>
          <a:p>
            <a:pPr lvl="0">
              <a:lnSpc>
                <a:spcPct val="90000"/>
              </a:lnSpc>
            </a:pPr>
            <a:r>
              <a:rPr lang="ru-RU" sz="1500">
                <a:solidFill>
                  <a:schemeClr val="tx1">
                    <a:lumMod val="75000"/>
                    <a:lumOff val="25000"/>
                  </a:schemeClr>
                </a:solidFill>
              </a:rPr>
              <a:t>Стабильная.</a:t>
            </a:r>
          </a:p>
          <a:p>
            <a:pPr lvl="0">
              <a:lnSpc>
                <a:spcPct val="90000"/>
              </a:lnSpc>
            </a:pPr>
            <a:r>
              <a:rPr lang="ru-RU" sz="1500">
                <a:solidFill>
                  <a:schemeClr val="tx1">
                    <a:lumMod val="75000"/>
                    <a:lumOff val="25000"/>
                  </a:schemeClr>
                </a:solidFill>
              </a:rPr>
              <a:t>Экономичная (идеально для маленьких батареек).</a:t>
            </a:r>
          </a:p>
          <a:p>
            <a:pPr marL="0" indent="0">
              <a:lnSpc>
                <a:spcPct val="90000"/>
              </a:lnSpc>
              <a:buNone/>
            </a:pP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03904FA4-5512-4D85-C487-FD8B8098FAAA}"/>
              </a:ext>
            </a:extLst>
          </p:cNvPr>
          <p:cNvSpPr/>
          <p:nvPr/>
        </p:nvSpPr>
        <p:spPr>
          <a:xfrm>
            <a:off x="218917" y="7474849"/>
            <a:ext cx="2104012" cy="1336048"/>
          </a:xfrm>
          <a:prstGeom prst="roundRect">
            <a:avLst>
              <a:gd name="adj" fmla="val 10000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F59D3DCE-9CCC-1CBF-7CAC-190846C6F34A}"/>
              </a:ext>
            </a:extLst>
          </p:cNvPr>
          <p:cNvGrpSpPr/>
          <p:nvPr/>
        </p:nvGrpSpPr>
        <p:grpSpPr>
          <a:xfrm>
            <a:off x="452697" y="7696940"/>
            <a:ext cx="2104012" cy="1336048"/>
            <a:chOff x="236726" y="1305827"/>
            <a:chExt cx="2104012" cy="1336048"/>
          </a:xfrm>
        </p:grpSpPr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EAD1FB0B-30B6-B9D5-ED52-1F0962E3995D}"/>
                </a:ext>
              </a:extLst>
            </p:cNvPr>
            <p:cNvSpPr/>
            <p:nvPr/>
          </p:nvSpPr>
          <p:spPr>
            <a:xfrm>
              <a:off x="236726" y="1305827"/>
              <a:ext cx="2104012" cy="133604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8" name="Скругленный прямоугольник 5">
              <a:extLst>
                <a:ext uri="{FF2B5EF4-FFF2-40B4-BE49-F238E27FC236}">
                  <a16:creationId xmlns:a16="http://schemas.microsoft.com/office/drawing/2014/main" id="{3FE3C640-E293-78E7-93A8-1755A7E2FC46}"/>
                </a:ext>
              </a:extLst>
            </p:cNvPr>
            <p:cNvSpPr txBox="1"/>
            <p:nvPr/>
          </p:nvSpPr>
          <p:spPr>
            <a:xfrm>
              <a:off x="275858" y="1344959"/>
              <a:ext cx="2025748" cy="125778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1400" b="1" kern="1200"/>
                <a:t>Телефон должен был:</a:t>
              </a:r>
              <a:endParaRPr lang="en-US" sz="1400" kern="1200"/>
            </a:p>
          </p:txBody>
        </p:sp>
      </p:grp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A13B73A2-B9E3-2DAA-9FFE-81F2AC126C6A}"/>
              </a:ext>
            </a:extLst>
          </p:cNvPr>
          <p:cNvSpPr/>
          <p:nvPr/>
        </p:nvSpPr>
        <p:spPr>
          <a:xfrm>
            <a:off x="4246168" y="-1862804"/>
            <a:ext cx="2104012" cy="1336048"/>
          </a:xfrm>
          <a:prstGeom prst="roundRect">
            <a:avLst>
              <a:gd name="adj" fmla="val 10000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C2AE727-7DC4-D551-2F73-AD213BE918EB}"/>
              </a:ext>
            </a:extLst>
          </p:cNvPr>
          <p:cNvGrpSpPr/>
          <p:nvPr/>
        </p:nvGrpSpPr>
        <p:grpSpPr>
          <a:xfrm>
            <a:off x="4479947" y="-1640713"/>
            <a:ext cx="2185787" cy="1581229"/>
            <a:chOff x="2808297" y="1305827"/>
            <a:chExt cx="2185787" cy="1581229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0878990F-8C02-4EEF-7776-32DA59C56F73}"/>
                </a:ext>
              </a:extLst>
            </p:cNvPr>
            <p:cNvSpPr/>
            <p:nvPr/>
          </p:nvSpPr>
          <p:spPr>
            <a:xfrm>
              <a:off x="2808297" y="1305827"/>
              <a:ext cx="2104012" cy="133604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2" name="Скругленный прямоугольник 5">
              <a:extLst>
                <a:ext uri="{FF2B5EF4-FFF2-40B4-BE49-F238E27FC236}">
                  <a16:creationId xmlns:a16="http://schemas.microsoft.com/office/drawing/2014/main" id="{E14A2EE1-AA65-33F9-6112-00A062B18771}"/>
                </a:ext>
              </a:extLst>
            </p:cNvPr>
            <p:cNvSpPr txBox="1"/>
            <p:nvPr/>
          </p:nvSpPr>
          <p:spPr>
            <a:xfrm>
              <a:off x="2968336" y="1629272"/>
              <a:ext cx="2025748" cy="125778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1400" kern="1200" dirty="0"/>
                <a:t>⚡ Работать </a:t>
              </a:r>
              <a:r>
                <a:rPr lang="en-US" sz="1400" kern="1200" dirty="0"/>
                <a:t>a</a:t>
              </a:r>
              <a:r>
                <a:rPr lang="ru-RU" sz="1400" kern="1200" dirty="0"/>
                <a:t>неделю без подзарядки.</a:t>
              </a:r>
              <a:endParaRPr lang="en-US" sz="1400" kern="1200" dirty="0"/>
            </a:p>
          </p:txBody>
        </p:sp>
      </p:grp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CAC754B3-36DF-237C-3188-33406703CC3A}"/>
              </a:ext>
            </a:extLst>
          </p:cNvPr>
          <p:cNvSpPr/>
          <p:nvPr/>
        </p:nvSpPr>
        <p:spPr>
          <a:xfrm>
            <a:off x="7767582" y="7920782"/>
            <a:ext cx="2104012" cy="1336048"/>
          </a:xfrm>
          <a:prstGeom prst="roundRect">
            <a:avLst>
              <a:gd name="adj" fmla="val 10000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A662CE22-75C5-7076-DCC6-CBC0995F1A76}"/>
              </a:ext>
            </a:extLst>
          </p:cNvPr>
          <p:cNvGrpSpPr/>
          <p:nvPr/>
        </p:nvGrpSpPr>
        <p:grpSpPr>
          <a:xfrm>
            <a:off x="8001361" y="8142873"/>
            <a:ext cx="2104012" cy="1336048"/>
            <a:chOff x="5379868" y="1305827"/>
            <a:chExt cx="2104012" cy="1336048"/>
          </a:xfrm>
        </p:grpSpPr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259D8A92-2E52-B121-7283-386F08DE5041}"/>
                </a:ext>
              </a:extLst>
            </p:cNvPr>
            <p:cNvSpPr/>
            <p:nvPr/>
          </p:nvSpPr>
          <p:spPr>
            <a:xfrm>
              <a:off x="5379868" y="1305827"/>
              <a:ext cx="2104012" cy="133604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Скругленный прямоугольник 5">
              <a:extLst>
                <a:ext uri="{FF2B5EF4-FFF2-40B4-BE49-F238E27FC236}">
                  <a16:creationId xmlns:a16="http://schemas.microsoft.com/office/drawing/2014/main" id="{05062392-1285-1599-800D-7911D605AEF1}"/>
                </a:ext>
              </a:extLst>
            </p:cNvPr>
            <p:cNvSpPr txBox="1"/>
            <p:nvPr/>
          </p:nvSpPr>
          <p:spPr>
            <a:xfrm>
              <a:off x="5419000" y="1344959"/>
              <a:ext cx="2025748" cy="125778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1400" kern="1200" dirty="0"/>
                <a:t>🛡️ Быть стабильнее стационарного телефона (зависание недопустимо).</a:t>
              </a:r>
              <a:endParaRPr lang="en-US" sz="1400" kern="1200" dirty="0"/>
            </a:p>
          </p:txBody>
        </p:sp>
      </p:grp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1666C8F-52E8-5A77-996F-BE6CE931A2C2}"/>
              </a:ext>
            </a:extLst>
          </p:cNvPr>
          <p:cNvSpPr/>
          <p:nvPr/>
        </p:nvSpPr>
        <p:spPr>
          <a:xfrm>
            <a:off x="10037713" y="-2174988"/>
            <a:ext cx="2104012" cy="1336048"/>
          </a:xfrm>
          <a:prstGeom prst="roundRect">
            <a:avLst>
              <a:gd name="adj" fmla="val 10000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EFDB4B2-536E-E9C0-A352-BBC488D8A9C1}"/>
              </a:ext>
            </a:extLst>
          </p:cNvPr>
          <p:cNvGrpSpPr/>
          <p:nvPr/>
        </p:nvGrpSpPr>
        <p:grpSpPr>
          <a:xfrm>
            <a:off x="10271492" y="-1952897"/>
            <a:ext cx="2104012" cy="1336048"/>
            <a:chOff x="7951440" y="1305827"/>
            <a:chExt cx="2104012" cy="1336048"/>
          </a:xfrm>
        </p:grpSpPr>
        <p:sp>
          <p:nvSpPr>
            <p:cNvPr id="19" name="Скругленный прямоугольник 18">
              <a:extLst>
                <a:ext uri="{FF2B5EF4-FFF2-40B4-BE49-F238E27FC236}">
                  <a16:creationId xmlns:a16="http://schemas.microsoft.com/office/drawing/2014/main" id="{482266E7-6FEC-68D8-2794-84809D6E51B5}"/>
                </a:ext>
              </a:extLst>
            </p:cNvPr>
            <p:cNvSpPr/>
            <p:nvPr/>
          </p:nvSpPr>
          <p:spPr>
            <a:xfrm>
              <a:off x="7951440" y="1305827"/>
              <a:ext cx="2104012" cy="133604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Скругленный прямоугольник 5">
              <a:extLst>
                <a:ext uri="{FF2B5EF4-FFF2-40B4-BE49-F238E27FC236}">
                  <a16:creationId xmlns:a16="http://schemas.microsoft.com/office/drawing/2014/main" id="{818F2B08-9477-A07A-4489-304D60D26FE4}"/>
                </a:ext>
              </a:extLst>
            </p:cNvPr>
            <p:cNvSpPr txBox="1"/>
            <p:nvPr/>
          </p:nvSpPr>
          <p:spPr>
            <a:xfrm>
              <a:off x="7990572" y="1344959"/>
              <a:ext cx="2025748" cy="125778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1400" kern="1200"/>
                <a:t>🧠 Эффективно работать на слабом «железе» (мало ОЗУ, медленные процессоры).</a:t>
              </a:r>
              <a:endParaRPr lang="en-US" sz="14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38708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847E3-320A-F191-F762-BB603C5D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ru-RU" sz="4400"/>
              <a:t>Требования к мобильной ОС нового поколения 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BBF212A3-4A54-A2B0-93D2-CA8481BF2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542239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4487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FB29C5-9E32-4F49-A689-B10EE31E5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1150" y="457200"/>
            <a:ext cx="8533646" cy="5943603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2467" y="621793"/>
            <a:ext cx="8198780" cy="5614416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480B0F-884A-F7A6-B755-4BD0074A1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616" y="881210"/>
            <a:ext cx="7417925" cy="1517035"/>
          </a:xfrm>
        </p:spPr>
        <p:txBody>
          <a:bodyPr>
            <a:normAutofit/>
          </a:bodyPr>
          <a:lstStyle/>
          <a:p>
            <a:r>
              <a:rPr lang="ru-RU" sz="3700">
                <a:solidFill>
                  <a:schemeClr val="tx1">
                    <a:lumMod val="75000"/>
                    <a:lumOff val="25000"/>
                  </a:schemeClr>
                </a:solidFill>
              </a:rPr>
              <a:t>Микроядро + Серверы (начиная с версии 6.0, 1999 г.)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E4BB47-98F9-0FB2-391D-671FE20D2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616" y="2626840"/>
            <a:ext cx="7245103" cy="3131777"/>
          </a:xfrm>
        </p:spPr>
        <p:txBody>
          <a:bodyPr>
            <a:normAutofit/>
          </a:bodyPr>
          <a:lstStyle/>
          <a:p>
            <a:pPr lvl="0"/>
            <a:r>
              <a:rPr lang="ru-RU" b="1">
                <a:solidFill>
                  <a:schemeClr val="tx1">
                    <a:lumMod val="75000"/>
                    <a:lumOff val="25000"/>
                  </a:schemeClr>
                </a:solidFill>
              </a:rPr>
              <a:t>Ядро</a:t>
            </a: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: отвечает только за память и переключение задач</a:t>
            </a:r>
          </a:p>
          <a:p>
            <a:pPr lvl="0"/>
            <a:r>
              <a:rPr lang="ru-RU" b="1">
                <a:solidFill>
                  <a:schemeClr val="tx1">
                    <a:lumMod val="75000"/>
                    <a:lumOff val="25000"/>
                  </a:schemeClr>
                </a:solidFill>
              </a:rPr>
              <a:t>Серверы</a:t>
            </a: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: вся остальная работа распределена по отдельным службам</a:t>
            </a:r>
          </a:p>
          <a:p>
            <a:pPr lvl="0">
              <a:buFont typeface="Wingdings" pitchFamily="2" charset="2"/>
              <a:buChar char="Ø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File Server (</a:t>
            </a: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файлы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Window Server (</a:t>
            </a: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графика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Telephony Server (звонки).</a:t>
            </a:r>
          </a:p>
          <a:p>
            <a:pPr marL="0" indent="0">
              <a:buNone/>
            </a:pPr>
            <a:r>
              <a:rPr lang="ru-RU" b="1">
                <a:solidFill>
                  <a:schemeClr val="tx1">
                    <a:lumMod val="75000"/>
                    <a:lumOff val="25000"/>
                  </a:schemeClr>
                </a:solidFill>
              </a:rPr>
              <a:t>Результат:  если зависает приложение → оно просто закрывается. Телефон продолжает работать</a:t>
            </a: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799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FB29C5-9E32-4F49-A689-B10EE31E5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1150" y="457200"/>
            <a:ext cx="8533646" cy="5943603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2467" y="621793"/>
            <a:ext cx="8198780" cy="5614416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A4614-9A0F-16AA-1784-5C8E709A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616" y="881210"/>
            <a:ext cx="7417925" cy="1517035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Приоритет №1 — звонок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A6A617-2884-4BCE-5330-DA76B504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616" y="2626840"/>
            <a:ext cx="7245103" cy="3131777"/>
          </a:xfrm>
        </p:spPr>
        <p:txBody>
          <a:bodyPr>
            <a:normAutofit/>
          </a:bodyPr>
          <a:lstStyle/>
          <a:p>
            <a:pPr lvl="0"/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EKA1 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(EPOC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Kernel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Architecture 1) (изначально): могло «задуматься» при входящем звонке во время игры.</a:t>
            </a:r>
          </a:p>
          <a:p>
            <a:pPr lvl="0"/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EKA2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(EPOC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Kernel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Architecture 2)  (</a:t>
            </a:r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 2004 года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можно выбрать между  ЕКА1 и ЕКА2, с 2005 года используется только ЕКА2): </a:t>
            </a:r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ядро реального времени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Мгновенно ставит звонок в приоритет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Бросает любые задачи, чтобы ответить на вызов.</a:t>
            </a:r>
          </a:p>
          <a:p>
            <a:pPr marL="0" indent="0">
              <a:buNone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FE87CE-9307-E7C6-81E1-9804B3104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7" r="30591" b="1"/>
          <a:stretch>
            <a:fillRect/>
          </a:stretch>
        </p:blipFill>
        <p:spPr>
          <a:xfrm>
            <a:off x="-4952059" y="457200"/>
            <a:ext cx="4098619" cy="6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90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A3D3A7-4093-D926-6829-4269B8305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7" r="30591" b="1"/>
          <a:stretch>
            <a:fillRect/>
          </a:stretch>
        </p:blipFill>
        <p:spPr>
          <a:xfrm>
            <a:off x="190846" y="237744"/>
            <a:ext cx="4098619" cy="63825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5EA45CC-6111-4281-92F6-9BE5B3B6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9465" y="237744"/>
            <a:ext cx="7652977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E0556F-5AB7-4B25-A10B-7B538B88D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6625" y="374904"/>
            <a:ext cx="7340156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30B9D8-A529-8CF6-DE90-82D08E084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192" y="642593"/>
            <a:ext cx="6280826" cy="1746504"/>
          </a:xfrm>
        </p:spPr>
        <p:txBody>
          <a:bodyPr>
            <a:normAutofit/>
          </a:bodyPr>
          <a:lstStyle/>
          <a:p>
            <a:r>
              <a:rPr lang="ru-RU" sz="4100"/>
              <a:t>чтобы система никогда не зависала...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F9547A-560A-8F82-0FB9-A4E3CFCAE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2386584"/>
            <a:ext cx="6280826" cy="364845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ru-RU" dirty="0"/>
              <a:t>1.  </a:t>
            </a:r>
            <a:r>
              <a:rPr lang="ru-RU" b="1" dirty="0"/>
              <a:t>Стек очистки (*</a:t>
            </a:r>
            <a:r>
              <a:rPr lang="ru-RU" b="1" dirty="0" err="1"/>
              <a:t>Cleanup</a:t>
            </a:r>
            <a:r>
              <a:rPr lang="ru-RU" b="1" dirty="0"/>
              <a:t> </a:t>
            </a:r>
            <a:r>
              <a:rPr lang="ru-RU" b="1" dirty="0" err="1"/>
              <a:t>Stack</a:t>
            </a:r>
            <a:r>
              <a:rPr lang="ru-RU" b="1" dirty="0"/>
              <a:t>*):</a:t>
            </a:r>
            <a:r>
              <a:rPr lang="ru-RU" dirty="0"/>
              <a:t> любой созданный объект сразу помечался на удаление. Система сама чистила мусор при ошибке</a:t>
            </a:r>
            <a:endParaRPr lang="en-US"/>
          </a:p>
          <a:p>
            <a:pPr marL="0" indent="0">
              <a:lnSpc>
                <a:spcPct val="90000"/>
              </a:lnSpc>
              <a:buNone/>
            </a:pPr>
            <a:r>
              <a:rPr lang="ru-RU" dirty="0"/>
              <a:t>2.  </a:t>
            </a:r>
            <a:r>
              <a:rPr lang="ru-RU" b="1" dirty="0"/>
              <a:t>Двухфазное конструирование</a:t>
            </a:r>
            <a:r>
              <a:rPr lang="ru-RU" dirty="0"/>
              <a:t>: сначала память → потом данные. Если второй этап ломался, удалялся весь объект целиком. Никаких «</a:t>
            </a:r>
            <a:r>
              <a:rPr lang="ru-RU" dirty="0" err="1"/>
              <a:t>полуработающих</a:t>
            </a:r>
            <a:r>
              <a:rPr lang="ru-RU" dirty="0"/>
              <a:t>» программ</a:t>
            </a:r>
            <a:endParaRPr lang="en-US"/>
          </a:p>
          <a:p>
            <a:pPr marL="0" indent="0">
              <a:lnSpc>
                <a:spcPct val="90000"/>
              </a:lnSpc>
              <a:buNone/>
            </a:pPr>
            <a:r>
              <a:rPr lang="ru-RU" dirty="0"/>
              <a:t>3.</a:t>
            </a:r>
            <a:r>
              <a:rPr lang="en-US" dirty="0"/>
              <a:t> </a:t>
            </a:r>
            <a:r>
              <a:rPr lang="ru-RU" b="1" dirty="0"/>
              <a:t>Дескрипторы</a:t>
            </a:r>
            <a:r>
              <a:rPr lang="ru-RU" dirty="0"/>
              <a:t>: «умные» строки, которые знают свою длину. Их невозможно переполнить (причина большинства сбоев)</a:t>
            </a:r>
            <a:endParaRPr lang="ru-RU"/>
          </a:p>
          <a:p>
            <a:pPr marL="0" indent="0">
              <a:lnSpc>
                <a:spcPct val="90000"/>
              </a:lnSpc>
              <a:buNone/>
            </a:pPr>
            <a:r>
              <a:rPr lang="ru-RU" b="1" dirty="0"/>
              <a:t>→ Сложно для программистов, но супернадёжно для пользователя</a:t>
            </a:r>
            <a:r>
              <a:rPr lang="ru-RU" dirty="0"/>
              <a:t> </a:t>
            </a:r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70C823-212F-83B8-7ECD-3C99F21BD6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7" r="1" b="9091"/>
          <a:stretch>
            <a:fillRect/>
          </a:stretch>
        </p:blipFill>
        <p:spPr>
          <a:xfrm>
            <a:off x="-356839" y="7779031"/>
            <a:ext cx="12548839" cy="705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91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861A0104-BF6E-465D-B05F-F41F69B36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3B901C5-8FDC-42CF-AE02-104ECD0C2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9C9470D-F677-4F4D-91C6-DDAAFB41E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44281070-5801-DE0C-5A79-0AB5B6BC02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7" r="1" b="9091"/>
          <a:stretch>
            <a:fillRect/>
          </a:stretch>
        </p:blipFill>
        <p:spPr>
          <a:xfrm>
            <a:off x="-356839" y="-100356"/>
            <a:ext cx="12548839" cy="7058711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BF9DC97C-B63C-41D6-923D-44FF13CF2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9943" y="237744"/>
            <a:ext cx="7652977" cy="63825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9D35CC7-2F55-4CD1-8570-56ADF4255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7103" y="374904"/>
            <a:ext cx="7340156" cy="6108192"/>
          </a:xfrm>
          <a:prstGeom prst="rect">
            <a:avLst/>
          </a:prstGeom>
          <a:solidFill>
            <a:schemeClr val="tx2">
              <a:alpha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9" name="Заголовок 38">
            <a:extLst>
              <a:ext uri="{FF2B5EF4-FFF2-40B4-BE49-F238E27FC236}">
                <a16:creationId xmlns:a16="http://schemas.microsoft.com/office/drawing/2014/main" id="{9600AA9A-4E23-CB94-4B91-A69D3B531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379" y="642594"/>
            <a:ext cx="6747309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>
                <a:solidFill>
                  <a:schemeClr val="bg1"/>
                </a:solidFill>
              </a:rPr>
              <a:t>2004 год. Первый мобильный вирус — Cabir</a:t>
            </a:r>
            <a:br>
              <a:rPr lang="en-US" sz="3000">
                <a:solidFill>
                  <a:schemeClr val="bg1"/>
                </a:solidFill>
              </a:rPr>
            </a:b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43" name="Объект 42">
            <a:extLst>
              <a:ext uri="{FF2B5EF4-FFF2-40B4-BE49-F238E27FC236}">
                <a16:creationId xmlns:a16="http://schemas.microsoft.com/office/drawing/2014/main" id="{E6022C0B-BEB2-EA16-583E-2BC620EF5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6378" y="2103120"/>
            <a:ext cx="6747310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solidFill>
                  <a:schemeClr val="bg1"/>
                </a:solidFill>
              </a:rPr>
              <a:t>Распространялся через Bluetooth</a:t>
            </a:r>
          </a:p>
          <a:p>
            <a:pPr lvl="0"/>
            <a:r>
              <a:rPr lang="en-US">
                <a:solidFill>
                  <a:schemeClr val="bg1"/>
                </a:solidFill>
              </a:rPr>
              <a:t>Не вредил файлам, но показал уязвимость</a:t>
            </a:r>
          </a:p>
          <a:p>
            <a:pPr marL="0"/>
            <a:r>
              <a:rPr lang="en-US" b="1">
                <a:solidFill>
                  <a:schemeClr val="bg1"/>
                </a:solidFill>
              </a:rPr>
              <a:t>Ответ Symbian 9.0 (2005 год): </a:t>
            </a:r>
            <a:endParaRPr lang="en-US">
              <a:solidFill>
                <a:schemeClr val="bg1"/>
              </a:solidFill>
            </a:endParaRPr>
          </a:p>
          <a:p>
            <a:pPr marL="0" lvl="0"/>
            <a:r>
              <a:rPr lang="en-US">
                <a:solidFill>
                  <a:schemeClr val="bg1"/>
                </a:solidFill>
              </a:rPr>
              <a:t>Введены разрешения для приложений («Можно доступ к контактам?», «Можно использовать камеру?»)</a:t>
            </a:r>
          </a:p>
          <a:p>
            <a:pPr marL="0" lvl="0"/>
            <a:r>
              <a:rPr lang="en-US">
                <a:solidFill>
                  <a:schemeClr val="bg1"/>
                </a:solidFill>
              </a:rPr>
              <a:t>Цифровая подпись (Symbian Signed) для важных прав</a:t>
            </a:r>
          </a:p>
          <a:p>
            <a:r>
              <a:rPr lang="en-US">
                <a:solidFill>
                  <a:schemeClr val="bg1"/>
                </a:solidFill>
              </a:rPr>
              <a:t>✅ Это остановило вирусы.</a:t>
            </a:r>
          </a:p>
          <a:p>
            <a:r>
              <a:rPr lang="en-US">
                <a:solidFill>
                  <a:schemeClr val="bg1"/>
                </a:solidFill>
              </a:rPr>
              <a:t>❌ Но сделало разработку намного сложнее и дороже </a:t>
            </a:r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BA6665A6-F4B7-1B9E-D108-3B07FA678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665" y="-4081135"/>
            <a:ext cx="2790023" cy="2790023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B6B56FC8-0F18-5ED5-FFEB-074441FBE9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061" y="7827211"/>
            <a:ext cx="3321198" cy="171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44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728AED4-7DD1-48CA-A953-55D508B38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76170-DDA6-47A5-BA2F-154B0B53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4867CB-5BAB-4468-9322-243C7E3CE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87C5F5-894B-462B-AEB1-EBA57682A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7" y="237744"/>
            <a:ext cx="7664596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40DE5B-45CA-43D6-A822-6149BA583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349" y="374904"/>
            <a:ext cx="7415292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0B963-2668-BF52-33D2-C55A3666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642593"/>
            <a:ext cx="6281928" cy="1744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Главный на рынке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CF90A0-855F-0A51-E45C-4E4F12920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8680" y="2386584"/>
            <a:ext cx="6281928" cy="3648456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/>
              <a:t>Хотя</a:t>
            </a:r>
            <a:r>
              <a:rPr lang="en-US" dirty="0"/>
              <a:t> Symbian </a:t>
            </a:r>
            <a:r>
              <a:rPr lang="en-US"/>
              <a:t>был</a:t>
            </a:r>
            <a:r>
              <a:rPr lang="en-US" dirty="0"/>
              <a:t> </a:t>
            </a:r>
            <a:r>
              <a:rPr lang="en-US"/>
              <a:t>общим</a:t>
            </a:r>
            <a:r>
              <a:rPr lang="en-US" dirty="0"/>
              <a:t> </a:t>
            </a:r>
            <a:r>
              <a:rPr lang="en-US"/>
              <a:t>проектом</a:t>
            </a:r>
            <a:r>
              <a:rPr lang="en-US" dirty="0"/>
              <a:t>, </a:t>
            </a:r>
            <a:r>
              <a:rPr lang="en-US"/>
              <a:t>именно</a:t>
            </a:r>
            <a:r>
              <a:rPr lang="en-US" dirty="0"/>
              <a:t> Nokia </a:t>
            </a:r>
            <a:r>
              <a:rPr lang="en-US"/>
              <a:t>сделала</a:t>
            </a:r>
            <a:r>
              <a:rPr lang="en-US" dirty="0"/>
              <a:t> </a:t>
            </a:r>
            <a:r>
              <a:rPr lang="en-US"/>
              <a:t>его</a:t>
            </a:r>
            <a:r>
              <a:rPr lang="en-US" dirty="0"/>
              <a:t> </a:t>
            </a:r>
            <a:r>
              <a:rPr lang="en-US"/>
              <a:t>массовым</a:t>
            </a:r>
            <a:r>
              <a:rPr lang="en-US" dirty="0"/>
              <a:t>.</a:t>
            </a:r>
          </a:p>
          <a:p>
            <a:pPr lvl="0"/>
            <a:r>
              <a:rPr lang="en-US"/>
              <a:t>Доработанный</a:t>
            </a:r>
            <a:r>
              <a:rPr lang="en-US" dirty="0"/>
              <a:t> </a:t>
            </a:r>
            <a:r>
              <a:rPr lang="en-US"/>
              <a:t>интерфейс</a:t>
            </a:r>
            <a:r>
              <a:rPr lang="en-US" dirty="0"/>
              <a:t> S60 </a:t>
            </a:r>
            <a:r>
              <a:rPr lang="en-US"/>
              <a:t>под</a:t>
            </a:r>
            <a:r>
              <a:rPr lang="en-US" dirty="0"/>
              <a:t> </a:t>
            </a:r>
            <a:r>
              <a:rPr lang="en-US"/>
              <a:t>кнопочные</a:t>
            </a:r>
            <a:r>
              <a:rPr lang="en-US" dirty="0"/>
              <a:t> </a:t>
            </a:r>
            <a:r>
              <a:rPr lang="en-US"/>
              <a:t>телефоны</a:t>
            </a:r>
            <a:r>
              <a:rPr lang="en-US" dirty="0"/>
              <a:t>.</a:t>
            </a:r>
          </a:p>
          <a:p>
            <a:pPr lvl="0"/>
            <a:r>
              <a:rPr lang="en-US"/>
              <a:t>Хиты</a:t>
            </a:r>
            <a:r>
              <a:rPr lang="en-US" dirty="0"/>
              <a:t> </a:t>
            </a:r>
            <a:r>
              <a:rPr lang="en-US"/>
              <a:t>продаж</a:t>
            </a:r>
            <a:r>
              <a:rPr lang="en-US" dirty="0"/>
              <a:t>: Nokia N73, </a:t>
            </a:r>
            <a:r>
              <a:rPr lang="en-US"/>
              <a:t>легендарный</a:t>
            </a:r>
            <a:r>
              <a:rPr lang="en-US" dirty="0"/>
              <a:t> N95, </a:t>
            </a:r>
            <a:r>
              <a:rPr lang="en-US"/>
              <a:t>бизнес-серия</a:t>
            </a:r>
            <a:r>
              <a:rPr lang="en-US" dirty="0"/>
              <a:t> E.</a:t>
            </a:r>
          </a:p>
          <a:p>
            <a:pPr marL="0"/>
            <a:r>
              <a:rPr lang="en-US"/>
              <a:t>Другие</a:t>
            </a:r>
            <a:r>
              <a:rPr lang="en-US" dirty="0"/>
              <a:t> </a:t>
            </a:r>
            <a:r>
              <a:rPr lang="en-US"/>
              <a:t>производители</a:t>
            </a:r>
            <a:r>
              <a:rPr lang="en-US" dirty="0"/>
              <a:t> (Sony Ericsson — UIQ, Samsung, Motorola) </a:t>
            </a:r>
            <a:r>
              <a:rPr lang="en-US"/>
              <a:t>тоже</a:t>
            </a:r>
            <a:r>
              <a:rPr lang="en-US" dirty="0"/>
              <a:t> </a:t>
            </a:r>
            <a:r>
              <a:rPr lang="en-US"/>
              <a:t>были</a:t>
            </a:r>
            <a:r>
              <a:rPr lang="en-US" dirty="0"/>
              <a:t> </a:t>
            </a:r>
            <a:r>
              <a:rPr lang="en-US"/>
              <a:t>на</a:t>
            </a:r>
            <a:r>
              <a:rPr lang="en-US" dirty="0"/>
              <a:t> Symbian, </a:t>
            </a:r>
            <a:r>
              <a:rPr lang="en-US"/>
              <a:t>но</a:t>
            </a:r>
            <a:r>
              <a:rPr lang="en-US" dirty="0"/>
              <a:t> </a:t>
            </a:r>
            <a:r>
              <a:rPr lang="en-US"/>
              <a:t>их</a:t>
            </a:r>
            <a:r>
              <a:rPr lang="en-US" dirty="0"/>
              <a:t> </a:t>
            </a:r>
            <a:r>
              <a:rPr lang="en-US"/>
              <a:t>доля</a:t>
            </a:r>
            <a:r>
              <a:rPr lang="en-US" dirty="0"/>
              <a:t> </a:t>
            </a:r>
            <a:r>
              <a:rPr lang="en-US"/>
              <a:t>была</a:t>
            </a:r>
            <a:r>
              <a:rPr lang="en-US" dirty="0"/>
              <a:t> </a:t>
            </a:r>
            <a:r>
              <a:rPr lang="en-US"/>
              <a:t>значительно</a:t>
            </a:r>
            <a:r>
              <a:rPr lang="en-US" dirty="0"/>
              <a:t> </a:t>
            </a:r>
            <a:r>
              <a:rPr lang="en-US"/>
              <a:t>меньше</a:t>
            </a:r>
            <a:r>
              <a:rPr lang="en-US" dirty="0"/>
              <a:t>.</a:t>
            </a:r>
          </a:p>
          <a:p>
            <a:pPr marL="0"/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A85DD5-6F3C-E6C2-D08B-F82000326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635" y="484632"/>
            <a:ext cx="2790023" cy="279002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EFCECE-7D70-FB77-9804-6DA4DE9785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170" y="3971174"/>
            <a:ext cx="3321198" cy="1718720"/>
          </a:xfrm>
          <a:prstGeom prst="rect">
            <a:avLst/>
          </a:prstGeom>
        </p:spPr>
      </p:pic>
      <p:pic>
        <p:nvPicPr>
          <p:cNvPr id="26" name="Объект 9">
            <a:extLst>
              <a:ext uri="{FF2B5EF4-FFF2-40B4-BE49-F238E27FC236}">
                <a16:creationId xmlns:a16="http://schemas.microsoft.com/office/drawing/2014/main" id="{E0990DD9-1638-D48C-59DD-2D486FE84A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-1702270"/>
            <a:ext cx="4188221" cy="120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733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DE8C63E-8D14-47EC-8FFD-7471461ED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F55756-5517-4E65-9936-F04BB327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2D5562B-5FBA-F68C-E08F-9804B32C5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384" y="642594"/>
            <a:ext cx="4810815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/>
              <a:t>Почему Symbian проиграл iPhone и Android?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C3E364-5A48-4567-B65D-0880753EE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80BFB4-DA7E-4E98-BE01-534889F41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2175" y="1005675"/>
            <a:ext cx="4800601" cy="4870174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1F4D74E8-C1E5-BEA0-DC9F-BFEAB04310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15" y="2840045"/>
            <a:ext cx="4188221" cy="1204113"/>
          </a:xfrm>
          <a:prstGeom prst="rect">
            <a:avLst/>
          </a:prstGeom>
        </p:spPr>
      </p:pic>
      <p:sp>
        <p:nvSpPr>
          <p:cNvPr id="8" name="Объект 7">
            <a:extLst>
              <a:ext uri="{FF2B5EF4-FFF2-40B4-BE49-F238E27FC236}">
                <a16:creationId xmlns:a16="http://schemas.microsoft.com/office/drawing/2014/main" id="{9A150231-D2D2-F6FF-D495-1AB9C8634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4384" y="2103120"/>
            <a:ext cx="4810816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/>
            <a:r>
              <a:rPr lang="en-US"/>
              <a:t>2007:  выход iPhone (сенсор — это удобно!).</a:t>
            </a:r>
          </a:p>
          <a:p>
            <a:pPr marL="0" lvl="0"/>
            <a:r>
              <a:rPr lang="en-US"/>
              <a:t>Позже: приход Android (открытая и простая разработка).</a:t>
            </a:r>
          </a:p>
          <a:p>
            <a:pPr marL="0"/>
            <a:r>
              <a:rPr lang="en-US"/>
              <a:t> Причины краха: Плюсы стали</a:t>
            </a:r>
          </a:p>
          <a:p>
            <a:pPr mar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29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61A0104-BF6E-465D-B05F-F41F69B36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3B901C5-8FDC-42CF-AE02-104ECD0C2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D6BC6B-8DD3-C3BF-2EBE-C56CDC8878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0" b="38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BE0DA36C-7BCD-4019-A13D-C01824BDD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558" y="291830"/>
            <a:ext cx="11595370" cy="6264613"/>
          </a:xfrm>
          <a:prstGeom prst="rect">
            <a:avLst/>
          </a:prstGeom>
          <a:noFill/>
          <a:ln w="158750" cap="sq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D1CAB5-0B7B-6A33-651C-1D3ECD30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Конец доминирования (2011–2015)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0C5805-DB29-6139-4E9F-49235AD7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10058400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b="1"/>
              <a:t>2011 год. Nokia объявляет о переходе на Windows Phone.</a:t>
            </a:r>
            <a:endParaRPr lang="en-US"/>
          </a:p>
          <a:p>
            <a:pPr marL="0"/>
            <a:r>
              <a:rPr lang="en-US"/>
              <a:t>Фактический отказ от Symbian как основной платформы.</a:t>
            </a:r>
          </a:p>
          <a:p>
            <a:pPr lvl="0"/>
            <a:r>
              <a:rPr lang="en-US" b="1"/>
              <a:t>2012 год. Nokia 808 PureView — последний флагман.</a:t>
            </a:r>
          </a:p>
          <a:p>
            <a:pPr marL="0" lvl="0"/>
            <a:r>
              <a:rPr lang="en-US"/>
              <a:t>Легендарная камера на 41 Мп, прощальный аккорд системы.</a:t>
            </a:r>
          </a:p>
          <a:p>
            <a:pPr lvl="0"/>
            <a:r>
              <a:rPr lang="en-US" b="1"/>
              <a:t>2014 год. Закрытие OVI Store (Nokia Store).</a:t>
            </a:r>
            <a:endParaRPr lang="en-US"/>
          </a:p>
          <a:p>
            <a:pPr marL="0"/>
            <a:r>
              <a:rPr lang="en-US"/>
              <a:t>Новые приложения больше не выпускаются.</a:t>
            </a:r>
          </a:p>
          <a:p>
            <a:pPr lvl="0"/>
            <a:r>
              <a:rPr lang="en-US" b="1"/>
              <a:t>2015 год. Прекращение технической поддержки.</a:t>
            </a:r>
            <a:endParaRPr lang="en-US"/>
          </a:p>
          <a:p>
            <a:r>
              <a:rPr lang="en-US"/>
              <a:t>Финальная точка в истории ОС.</a:t>
            </a:r>
          </a:p>
          <a:p>
            <a:pPr mar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1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D2AEF2-A90A-A951-D521-E7AEF298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Почему проиграл лидер?</a:t>
            </a:r>
            <a:br>
              <a:rPr lang="ru-RU" dirty="0"/>
            </a:b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B78D4E-F608-2F91-DA0E-270E2CB9D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7234" y="5369668"/>
            <a:ext cx="6517532" cy="1314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Symbian был идеальным инструментом для старой эры, но не смог адаптироваться под новые требования.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2AF1968D-D649-861E-9735-1B2B1D63772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3106430"/>
              </p:ext>
            </p:extLst>
          </p:nvPr>
        </p:nvGraphicFramePr>
        <p:xfrm>
          <a:off x="2837234" y="2021082"/>
          <a:ext cx="6517532" cy="28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8766">
                  <a:extLst>
                    <a:ext uri="{9D8B030D-6E8A-4147-A177-3AD203B41FA5}">
                      <a16:colId xmlns:a16="http://schemas.microsoft.com/office/drawing/2014/main" val="2857443389"/>
                    </a:ext>
                  </a:extLst>
                </a:gridCol>
                <a:gridCol w="3258766">
                  <a:extLst>
                    <a:ext uri="{9D8B030D-6E8A-4147-A177-3AD203B41FA5}">
                      <a16:colId xmlns:a16="http://schemas.microsoft.com/office/drawing/2014/main" val="3316647164"/>
                    </a:ext>
                  </a:extLst>
                </a:gridCol>
              </a:tblGrid>
              <a:tr h="529188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 2000-х годах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 новой эпохе (после 200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1090388"/>
                  </a:ext>
                </a:extLst>
              </a:tr>
              <a:tr h="810451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Segoe UI Emoji" panose="020B0502040204020203" pitchFamily="34" charset="0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⚡</a:t>
                      </a:r>
                      <a:r>
                        <a:rPr lang="ru-RU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Экономия энергии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Segoe UI Emoji" panose="020B0502040204020203" pitchFamily="34" charset="0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👤</a:t>
                      </a:r>
                      <a:r>
                        <a:rPr lang="ru-RU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Удобство пользователя</a:t>
                      </a:r>
                    </a:p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2331599"/>
                  </a:ext>
                </a:extLst>
              </a:tr>
              <a:tr h="7424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Segoe UI Emoji" panose="020B0502040204020203" pitchFamily="34" charset="0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🛡️</a:t>
                      </a:r>
                      <a:r>
                        <a:rPr lang="ru-RU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Максимальная стабильность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Segoe UI Emoji" panose="020B0502040204020203" pitchFamily="34" charset="0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💻</a:t>
                      </a:r>
                      <a:r>
                        <a:rPr lang="ru-RU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Простота разработки приложений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7781237"/>
                  </a:ext>
                </a:extLst>
              </a:tr>
              <a:tr h="74068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Работа на слабом «железе»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Красивая графика и большие экраны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Segoe UI Emoji" panose="020B0502040204020203" pitchFamily="34" charset="0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 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4775353"/>
                  </a:ext>
                </a:extLst>
              </a:tr>
            </a:tbl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2FBB045-AAED-98FA-0EF7-5698B5680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216874"/>
            <a:ext cx="3804674" cy="422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73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822F0-4C3A-110C-CB4A-5E84CE7C0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384" y="642594"/>
            <a:ext cx="4810815" cy="1371600"/>
          </a:xfrm>
        </p:spPr>
        <p:txBody>
          <a:bodyPr>
            <a:normAutofit/>
          </a:bodyPr>
          <a:lstStyle/>
          <a:p>
            <a:r>
              <a:rPr lang="ru-RU" sz="3000" b="1"/>
              <a:t>Наследие: что осталось с нами навсегда</a:t>
            </a:r>
            <a:endParaRPr lang="ru-RU" sz="3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C3E364-5A48-4567-B65D-0880753EE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80BFB4-DA7E-4E98-BE01-534889F41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2175" y="1005675"/>
            <a:ext cx="4800601" cy="4870174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32A13E-5D7D-767B-3E8C-E1F52A3E9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288" y="1328394"/>
            <a:ext cx="3804674" cy="4227415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E98F89B-C593-C229-9774-14CC4BC88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4384" y="2103120"/>
            <a:ext cx="4810816" cy="393192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ru-RU" sz="1300"/>
              <a:t>Идеи Symbian стали стандартом индустрии: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1300" b="1"/>
              <a:t>✅ Разрешения для приложений</a:t>
            </a:r>
            <a:endParaRPr lang="ru-RU" sz="1300"/>
          </a:p>
          <a:p>
            <a:pPr marL="0" indent="0">
              <a:lnSpc>
                <a:spcPct val="90000"/>
              </a:lnSpc>
              <a:buNone/>
            </a:pPr>
            <a:r>
              <a:rPr lang="ru-RU" sz="1300"/>
              <a:t>Первым требовать согласия на доступ к контактам или камере стал именно Symbian.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1300"/>
              <a:t> 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1300" b="1"/>
              <a:t>✅ Безопасность по умолчанию</a:t>
            </a:r>
            <a:endParaRPr lang="ru-RU" sz="1300"/>
          </a:p>
          <a:p>
            <a:pPr marL="0" indent="0">
              <a:lnSpc>
                <a:spcPct val="90000"/>
              </a:lnSpc>
              <a:buNone/>
            </a:pPr>
            <a:r>
              <a:rPr lang="ru-RU" sz="1300"/>
              <a:t>Правило «ничего не разрешать, пока не попросят».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1300"/>
              <a:t>Сегодня так работают </a:t>
            </a:r>
            <a:r>
              <a:rPr lang="ru-RU" sz="1300" err="1"/>
              <a:t>iOS</a:t>
            </a:r>
            <a:r>
              <a:rPr lang="ru-RU" sz="1300"/>
              <a:t> и </a:t>
            </a:r>
            <a:r>
              <a:rPr lang="ru-RU" sz="1300" err="1"/>
              <a:t>Android</a:t>
            </a:r>
            <a:r>
              <a:rPr lang="ru-RU" sz="1300"/>
              <a:t> → меньше вирусов.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1300"/>
              <a:t> 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1300" b="1"/>
              <a:t>✅ Стабильность через изоляцию</a:t>
            </a:r>
            <a:endParaRPr lang="ru-RU" sz="1300"/>
          </a:p>
          <a:p>
            <a:pPr marL="0" indent="0">
              <a:lnSpc>
                <a:spcPct val="90000"/>
              </a:lnSpc>
              <a:buNone/>
            </a:pPr>
            <a:r>
              <a:rPr lang="ru-RU" sz="1300"/>
              <a:t>Если падает одна игра — смартфон продолжает работать.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1300"/>
              <a:t>(Разделение процессов = стандарт современного ядра)</a:t>
            </a:r>
          </a:p>
          <a:p>
            <a:pPr marL="0" indent="0">
              <a:lnSpc>
                <a:spcPct val="90000"/>
              </a:lnSpc>
              <a:buNone/>
            </a:pPr>
            <a:endParaRPr lang="ru-RU" sz="1300"/>
          </a:p>
        </p:txBody>
      </p:sp>
    </p:spTree>
    <p:extLst>
      <p:ext uri="{BB962C8B-B14F-4D97-AF65-F5344CB8AC3E}">
        <p14:creationId xmlns:p14="http://schemas.microsoft.com/office/powerpoint/2010/main" val="416561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9C9470D-F677-4F4D-91C6-DDAAFB41E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FF56BD-8081-EE53-F43A-BF57043FC1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5" b="7865"/>
          <a:stretch>
            <a:fillRect/>
          </a:stretch>
        </p:blipFill>
        <p:spPr bwMode="auto">
          <a:xfrm>
            <a:off x="2" y="10"/>
            <a:ext cx="12191999" cy="6857989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F9DC97C-B63C-41D6-923D-44FF13CF2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9943" y="237744"/>
            <a:ext cx="7652977" cy="63825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D35CC7-2F55-4CD1-8570-56ADF4255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7103" y="374904"/>
            <a:ext cx="7340156" cy="6108192"/>
          </a:xfrm>
          <a:prstGeom prst="rect">
            <a:avLst/>
          </a:prstGeom>
          <a:solidFill>
            <a:schemeClr val="tx2">
              <a:alpha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10A2BD-69B7-1EB8-50A0-C75F27366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378" y="2103120"/>
            <a:ext cx="674731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>
                <a:solidFill>
                  <a:schemeClr val="bg1"/>
                </a:solidFill>
              </a:rPr>
              <a:t>Symbian не удержался на рынке, но задал правила, по которым живут современные смартфоны</a:t>
            </a:r>
            <a:endParaRPr lang="ru-RU">
              <a:solidFill>
                <a:schemeClr val="bg1"/>
              </a:solidFill>
            </a:endParaRPr>
          </a:p>
          <a:p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73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Савон</Template>
  <TotalTime>264</TotalTime>
  <Words>767</Words>
  <Application>Microsoft Macintosh PowerPoint</Application>
  <PresentationFormat>Широкоэкранный</PresentationFormat>
  <Paragraphs>95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Segoe UI Emoji</vt:lpstr>
      <vt:lpstr>Wingdings</vt:lpstr>
      <vt:lpstr>Савон</vt:lpstr>
      <vt:lpstr>Symbian </vt:lpstr>
      <vt:lpstr>EPOC: основа Symbian </vt:lpstr>
      <vt:lpstr>Symbian Ltd </vt:lpstr>
      <vt:lpstr>Требования к мобильной ОС нового поколения </vt:lpstr>
      <vt:lpstr>Микроядро + Серверы (начиная с версии 6.0, 1999 г.)</vt:lpstr>
      <vt:lpstr>Приоритет №1 — звонок</vt:lpstr>
      <vt:lpstr>чтобы система никогда не зависала... </vt:lpstr>
      <vt:lpstr>2004 год. Первый мобильный вирус — Cabir </vt:lpstr>
      <vt:lpstr>Главный на рынке </vt:lpstr>
      <vt:lpstr>Почему Symbian проиграл iPhone и Android?</vt:lpstr>
      <vt:lpstr>Конец доминирования (2011–2015)</vt:lpstr>
      <vt:lpstr>Почему проиграл лидер? </vt:lpstr>
      <vt:lpstr>Наследие: что осталось с нами навсегда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2026-09-28T17:54:50Z</dcterms:created>
  <dcterms:modified xsi:type="dcterms:W3CDTF">2026-10-01T07:26:58Z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